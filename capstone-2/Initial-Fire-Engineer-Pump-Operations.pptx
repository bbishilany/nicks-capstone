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Calibri"/>
              </a:rPr>
              <a:t>INITIAL FIRE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PUMP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2E8F0"/>
                </a:solidFill>
                <a:latin typeface="Calibri"/>
              </a:rPr>
              <a:t>Truck checks · Driving with due regard · Hydrants · Apparatus placement · Pump engagement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4206240"/>
            <a:ext cx="4572000" cy="36576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4A3B8"/>
                </a:solidFill>
                <a:latin typeface="Calibri"/>
              </a:rPr>
              <a:t>CAPSTONE 2  |  NFPA 1002  |  FIRE &amp; EMS INSTRUCTOR I AND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83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97316"/>
                </a:solidFill>
                <a:latin typeface="Calibri"/>
              </a:rPr>
              <a:t>April 28, 2026  ·  45-Minute Presentation</a:t>
            </a:r>
          </a:p>
        </p:txBody>
      </p:sp>
      <p:pic>
        <p:nvPicPr>
          <p:cNvPr id="11" name="Picture 10" descr="QR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00000"/>
            <a:ext cx="109728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6715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</a:rPr>
              <a:t>Student Roster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Describe the responsibilities of the apparatus driver/operator under NFPA 1002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Perform a daily/shift apparatus check and document deficiencies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Operate a fire apparatus with due regard, applying ORC 4511.03 / 4511.041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Identify hydrant types (Storz vs threaded) and execute a forward and reverse lay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Position the apparatus to maximize crew safety, scene access, and water supply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Engage the pump, set pressure, and supply attack lines from tank or hydrant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Carry out the secondary duties of the engineer while serving as command's situational eyes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LEARNER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F97316"/>
                </a:solidFill>
                <a:latin typeface="Calibri"/>
              </a:rPr>
              <a:t>NFPA 1002 — Target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498079" cy="45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Active firefighters preparing for the driver/operator position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Hold valid Firefighter I or I&amp;II certification under OAC 4765-18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Adult learners with field experience on engine companies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Familiar with hose loads, basic apparatus layout, and SCBA use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Variable experience with apparatus driving and pump panel operation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Motivated to qualify as engineer and assume the responsibility of the wheel and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THE ENGINEER'S ROLE — NFPA 1002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1002 is the standard for Fire Apparatus Driver/Operator Professional Qualifications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DO is responsible for the safe transport, positioning, and pump operation of the rig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On the rig before the call — and stays with it until back in quarters, ready for the next response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Two NFPA 1002 chapters frame the position: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Chapter 4 — General Requirements: inspection, maintenance, driving, backing, defensive driving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Chapter 5 — Pump Operations: tank, hydrant, drafting, relay, pressure management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Judged less on speed and more on consistency — the rig that doesn't crash and the line that doesn't lose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DAILY APPARATUS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Conducted at shift change — signed off in the apparatus log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Walk-around (clockwise from driver door):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Body damage, mirrors, lights (low/high beam, brake, turn, scene, warning)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Tires — tread depth, sidewall, lug nut indicators, valve caps, air pressure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Compartments — latched, inventoried, equipment secured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Engine bay — oil, coolant, power steering, washer fluid, belts, hoses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Cab — SCBA seats charged, MDT/radio responsive, emergency lighting cycle test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Pump panel — primer cycle, tank-to-pump, gate valves, intake/discharge caps, water level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Air system — build to governor, leak-down test, low-air warning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Document deficiencies on the OOS log; notify officer if anything is safety-critical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CREW RESPONSIBILITIES BEFORE ROLLING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749039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CREW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Officer — confirms address, radio, tactical worksheet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FF1 (Backstep R) — attack line, irons, primary search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FF2 (Backstep L) — hydrant, water supply, backup line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DO — best route, apparatus position, pump readiness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All — seatbelts before wheels move (non-negotiable)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COMMON PRE-ROLL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Address not confirmed; rig rolls toward wrong street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SCBA not donned enroute — delays entry on arrival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Accountability tags forgotten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Cab doors not latched — warning chime ignored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Hose load disturbed from previous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DRIVING WITH DUE REGARD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Due regard — the legal duty to operate an emergency vehicle with the safety of all persons in mind, regardless of right-of-way granted by warning lights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Ohio Revised Code references: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ORC 4511.03 — Emergency vehicles must come to a complete stop before proceeding through any red signal or stop sign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ORC 4511.041 — Driver of an emergency vehicle is not relieved from the duty to operate with due regard for the safety of all persons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Code 3 — lights and siren; Code 1 — normal traffic flow, no warning devices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Intersections: stop, scan all four directions, eye contact with civilians, proceed lane-by-lane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Backing — never alone; spotter at left rear, two taps to stop, mirror sweeps every 5 seconds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Use engine retarder/Jake brake on grades; ride the throttle, not the service brakes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Reduce speed to 60% of posted limit on curves; full water tank shifts the center of gravity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COMMUNICATION &amp; RADIO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Enroute — monitor dispatch and primary tactical channel; acknowledge updates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On arrival — officer gives size-up; the DO listens for the water-supply call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Mark your hydrant: "Engine 12 has a hydrant at Main and 5th, forward laying 200 feet of 5-inch."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Switch to the assigned tactical or fireground channel as directed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If command requests a water-supply update, give a number: PSI, GPM, or tank water remaining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If you hear MAYDAY — stop non-essential traffic, dedicate a discharge to the RIT line, report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HYDRANT TYPES — STORZ VS THREADED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749039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STORZ (5" LDH)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Sexless quarter-turn coupling — no male/female threads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Connect, rotate 1/4 turn clockwise, lock pin engages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Faster connection, less likely to cross-thread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Standard for forward-lay supply on modern apparatus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Open hydrant slowly to charge; full open after charged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749039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THREADED (NST/NH)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20240"/>
            <a:ext cx="3657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National Standard Thread — 4.5" steamer + two 2.5" outlets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Use hydrant wrench to remove cap and open valve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Hand-tight first — avoid cross-threading; finish with wrench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Common in older systems; carry Storz-to-NST adapters</a:t>
            </a:r>
          </a:p>
          <a:p>
            <a:pPr/>
            <a:r>
              <a:rPr sz="1300" b="0">
                <a:solidFill>
                  <a:srgbClr val="E2E8F0"/>
                </a:solidFill>
                <a:latin typeface="Calibri"/>
              </a:rPr>
              <a:t>"Down to charge, up to shut" — rotation reminder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FORWARD LAY VS REVERSE 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Forward lay — engine drops at hydrant (FF2 jumps off), then drives to fire laying supply line behind it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Engine arrives at scene fully positioned for attack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Best when hydrant is between dispatch route and the fire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Reverse lay — engine arrives at fire, drops attack lines, then drives back to hydrant laying supply line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Useful when hydrant is past the fire, or when a second engine establishes supply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Pump operator at the hydrant; another driver pumps the attack engine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Department SOP usually defines the default lay; deviation requires officer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APPARATUS 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first piece sets the geometry of the entire scene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Position past the structure (~25 ft) so the front clears the building — gives truck company room to set up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Stay out of the collapse zone — minimum 1.5x building height for unstable structures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Check overhead — power lines, tree limbs, awnings; aerial apparatus needs vertical clearance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Egress — never block your own retreat; second engine should pass on at least one side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Wheels chocked, brake set, transmission in pump gear (or neutral with parking brake per manufacturer)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Highway incidents — block one lane wider than work area, wheels turned away from crew, scene lights toward oncoming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PUMP ENGAGEMENT &amp; PRESSURE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Sequence (typical midship pump):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Truck stopped, parking brake set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Transmission to NEUTRAL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Pump shift switch to PUMP — wait for green "OK to pump" indicator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Transmission to DRIVE — rear wheels stay still, pump turns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Open tank-to-pump valve; pump now pressurized from booster tank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Charge attack line to target pressure (1.75" handline at 100 PSI nozzle + friction loss)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Transition to hydrant: open intake gate slowly, close tank fill, monitor compound gauge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Use PRESSURE GOVERNOR mode (PSI) for handlines; RPM mode only for relay or master stream per SOP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Watch the gauges, not the fire — that's the FF1's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GENERATOR, LIGHTING &amp; SECONDARY DUTIES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Once water is flowing and pressure is stable, the engineer rotates to secondary duties: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Scene lighting — deploy generator, raise the light tower, position cord reels for interior crew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Ladders — throw a ground ladder to a second-floor window for the search team's bailout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Tools — stage irons, pike poles, K-12 saw, thermal imager at the front step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SCBA bottles — pull spare bottles from the compartment, stage them at rehab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Hydration — water bottles to crews coming off air; rehab area set up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Salt / shovel — ice control around the rig and hose bed in winter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Backup hose lines — pull a second 1.75" to the front door before it's needed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Every minute spent setting up secondaries early saves three minutes when command asks for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PUMP OPERATOR AS COMMAND'S EYES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DO has the only continuous 360° view of the building once interior crews go inside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Report changes to command: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Smoke conditions changing color, volume, velocity, density (the four attributes of fire behavior)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Fire showing in new openings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Structural movement — sagging eaves, spalling brick, settling porch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Civilian arrival or self-evacuation</a:t>
            </a:r>
          </a:p>
          <a:p>
            <a:pPr lvl="1"/>
            <a:r>
              <a:rPr sz="1300" b="0">
                <a:solidFill>
                  <a:srgbClr val="94A3B8"/>
                </a:solidFill>
                <a:latin typeface="Calibri"/>
              </a:rPr>
              <a:t>Approaching apparatus or police, blocked egress, downed power lines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Water supply forecasting — if your tank is at 25% and you're not on a hydrant yet, that's a command notification, not a panic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RIT-line readiness — one discharge gated and pre-charged for MAYDAY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The engineer owns the rig, the pump, and the situational view of the scene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Daily apparatus check is the most important task of the shift — every shift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Drive with due regard — the law and the math both say slow down at intersections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Forward lay vs reverse lay — know your SOP, mark the hydrant on radio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Pump engagement is a sequence — Park → Neutral → Pump → Drive → Tank-to-pump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Secondary duties save lives — set them up before they're needed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Be command's eyes — report fire behavior, structural changes, water-supply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QUIZ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5486400" cy="3200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Multiple choice · Discuss as a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E8F0"/>
                </a:solidFill>
                <a:latin typeface="Calibri"/>
              </a:rPr>
              <a:t>Take it on your phone — scan the QR or visit the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bbishilany.github.io/nicks-capstone/capstone-2.html#quiz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1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NFPA standard governs Fire Apparatus Driver/Operator Professional Qualifications?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1001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1041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1002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NFPA 1500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NFPA 1002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2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"Due regard" means the emergency vehicle driver must: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Always have right of way under lights and siren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Operate with the safety of all persons in mind regardless of warning devices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Drive at any speed necessary to reach the call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Never stop at red lights when responding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Operate with the safety of all persons in mind regardless of warning devices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3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A Storz coupling connects to a hydrant by: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 quarter turn clockwise — sexless coupling, no threads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Five full clockwise turns with a hydrant wrench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Threading the male end into the female outlet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 friction-fit clamp tightened with a strap wrench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A) A quarter turn clockwise — sexless coupling, no threads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4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In a forward lay, the engine: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Drops a firefighter at the hydrant, then drives to the fire laying supply line behind it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Arrives at the fire first, then drives back to the hydrant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Pumps from tank water only, never connecting to a hydrant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Stages two blocks away and waits for command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A) Drops a firefighter at the hydrant, then drives to the fire laying supply line behind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5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A typical 1.75" handline is supplied at what nozzle pressure (smooth-bore not used)?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50 PSI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75 PSI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100 PSI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150 PSI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100 PSI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6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When backing the apparatus, the spotter should be positioned: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At the front bumper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At the left rear of the apparatus, in the driver's mirror sight line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Inside the cab giving verbal directions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Wherever convenient — backing alone is acceptable in an empty bay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At the left rear of the apparatus, in the driver's mirror sight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7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correct sequence for engaging a midship pump is: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Drive → Pump shift → Park brake → Tank-to-pump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Pump shift → Drive → Park brake → Tank-to-pump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Park brake → Neutral → Pump shift → Drive → Tank-to-pump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Tank-to-pump → Pump shift → Drive → Park brake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Park brake → Neutral → Pump shift → Drive → Tank-to-pump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8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When positioning the engine at a residential structure fire, you should: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Stop directly in front of the door for shortest hose stretch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Park on the lawn for stability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Pull into the driveway and block the truck company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Pull approximately 25 feet past the structure to leave room for the truck company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D) Pull approximately 25 feet past the structure to leave room for the truck 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9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Which of the following is NOT a typical secondary duty of the engineer once water is flowing?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Throwing ground ladders for crew bailout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Conducting interior primary search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Staging spare SCBA bottles at rehab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Pulling a backup 1.75" line to the front door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B) Conducting interior primary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97316"/>
                </a:solidFill>
                <a:latin typeface="Calibri"/>
              </a:rPr>
              <a:t>QUESTION 10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>
                <a:solidFill>
                  <a:srgbClr val="FFFFFF"/>
                </a:solidFill>
                <a:latin typeface="Calibri"/>
              </a:rPr>
              <a:t>The four attributes of fire behavior the pump operator should report to command are: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23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2374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Heat, light, smoke, sound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009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0098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Color, smell, texture, temperature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7822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Volume, velocity, density, color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0B1A33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554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55464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0">
                <a:solidFill>
                  <a:srgbClr val="E2E8F0"/>
                </a:solidFill>
                <a:latin typeface="Calibri"/>
              </a:rPr>
              <a:t>Speed, height, angle,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852160"/>
            <a:ext cx="768096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07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FFFFFF"/>
                </a:solidFill>
                <a:latin typeface="Calibri"/>
              </a:rPr>
              <a:t>ANSWER: C) Volume, velocity, density, color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74320"/>
            <a:ext cx="8412480" cy="630936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84124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7498079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1002: Standard for Fire Apparatus Driver/Operator Professional Qualifications (2024)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NFPA 1901: Standard for Automotive Fire Apparatus (2022)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ORC 4511.03 — Emergency Vehicles at Red Signals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ORC 4511.041 — Due Regard for Safety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U.S. Fire Administration. Emergency Vehicle Safe Operations for Volunteer and Small Combination Fire Departments (2017)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IFSTA. Pumping Apparatus Driver/Operator Handbook (4th ed., 2022)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Ohio Division of EMS. Firefighter I &amp; II Course Packet</a:t>
            </a:r>
          </a:p>
          <a:p>
            <a:pPr/>
            <a:r>
              <a:rPr sz="1500" b="0">
                <a:solidFill>
                  <a:srgbClr val="E2E8F0"/>
                </a:solidFill>
                <a:latin typeface="Calibri"/>
              </a:rPr>
              <a:t>NIOSH Fire Fighter Fatality Investigation and Prevention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7315200" cy="4114800"/>
          </a:xfrm>
          <a:prstGeom prst="roundRect">
            <a:avLst/>
          </a:prstGeom>
          <a:solidFill>
            <a:srgbClr val="122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  <a:latin typeface="Calibri"/>
              </a:rPr>
              <a:t>Thank you for your attention.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97316"/>
                </a:solidFill>
                <a:latin typeface="Calibri"/>
              </a:rPr>
              <a:t>Capstone 2  ·  Initial Fire Engineer / Pump Operations  ·  NFPA 1002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bbishilany.github.io/nicks-capstone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NFPA 1002  |  Mileage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